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4" r:id="rId3"/>
    <p:sldId id="258" r:id="rId4"/>
    <p:sldId id="263" r:id="rId5"/>
    <p:sldId id="265" r:id="rId6"/>
    <p:sldId id="262" r:id="rId7"/>
  </p:sldIdLst>
  <p:sldSz cx="18300700" cy="10299700"/>
  <p:notesSz cx="18300700" cy="10299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7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B1DA"/>
    <a:srgbClr val="484C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9-25T16:03:54.074" idx="4">
    <p:pos x="10" y="10"/>
    <p:text>Blockchain</p:text>
    <p:extLst>
      <p:ext uri="{C676402C-5697-4E1C-873F-D02D1690AC5C}">
        <p15:threadingInfo xmlns:p15="http://schemas.microsoft.com/office/powerpoint/2012/main" timeZoneBias="-30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9-25T16:03:45.878" idx="3">
    <p:pos x="10" y="10"/>
    <p:text>presentation content</p:text>
    <p:extLst>
      <p:ext uri="{C676402C-5697-4E1C-873F-D02D1690AC5C}">
        <p15:threadingInfo xmlns:p15="http://schemas.microsoft.com/office/powerpoint/2012/main" timeZoneBias="-30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9-25T16:03:39.549" idx="2">
    <p:pos x="10" y="10"/>
    <p:text>introduction</p:text>
    <p:extLst>
      <p:ext uri="{C676402C-5697-4E1C-873F-D02D1690AC5C}">
        <p15:threadingInfo xmlns:p15="http://schemas.microsoft.com/office/powerpoint/2012/main" timeZoneBias="-30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9-25T16:04:02.468" idx="5">
    <p:pos x="10" y="10"/>
    <p:text>Popular cryptocurrencies</p:text>
    <p:extLst>
      <p:ext uri="{C676402C-5697-4E1C-873F-D02D1690AC5C}">
        <p15:threadingInfo xmlns:p15="http://schemas.microsoft.com/office/powerpoint/2012/main" timeZoneBias="-30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9-25T16:03:24.141" idx="1">
    <p:pos x="10" y="10"/>
    <p:text>Video about blockchain</p:text>
    <p:extLst>
      <p:ext uri="{C676402C-5697-4E1C-873F-D02D1690AC5C}">
        <p15:threadingInfo xmlns:p15="http://schemas.microsoft.com/office/powerpoint/2012/main" timeZoneBias="-300"/>
      </p:ext>
    </p:extLst>
  </p:cm>
  <p:cm authorId="1" dt="2024-09-25T16:08:30.651" idx="7">
    <p:pos x="11044" y="342"/>
    <p:text>Video (source youtube)</p:text>
    <p:extLst>
      <p:ext uri="{C676402C-5697-4E1C-873F-D02D1690AC5C}">
        <p15:threadingInfo xmlns:p15="http://schemas.microsoft.com/office/powerpoint/2012/main" timeZoneBias="-30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9-25T16:04:18.875" idx="6">
    <p:pos x="10" y="10"/>
    <p:text>conclusion</p:text>
    <p:extLst>
      <p:ext uri="{C676402C-5697-4E1C-873F-D02D1690AC5C}">
        <p15:threadingInfo xmlns:p15="http://schemas.microsoft.com/office/powerpoint/2012/main" timeZoneBias="-30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2552" y="3192907"/>
            <a:ext cx="15555595" cy="2162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5105" y="5767832"/>
            <a:ext cx="12810490" cy="2574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5035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24860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2829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855060" y="5907507"/>
            <a:ext cx="2433320" cy="3476625"/>
          </a:xfrm>
          <a:custGeom>
            <a:avLst/>
            <a:gdLst/>
            <a:ahLst/>
            <a:cxnLst/>
            <a:rect l="l" t="t" r="r" b="b"/>
            <a:pathLst>
              <a:path w="2433319" h="3476625">
                <a:moveTo>
                  <a:pt x="1738248" y="0"/>
                </a:moveTo>
                <a:lnTo>
                  <a:pt x="0" y="1738312"/>
                </a:lnTo>
                <a:lnTo>
                  <a:pt x="1738248" y="3476621"/>
                </a:lnTo>
                <a:lnTo>
                  <a:pt x="2433002" y="2781894"/>
                </a:lnTo>
                <a:lnTo>
                  <a:pt x="2433002" y="694728"/>
                </a:lnTo>
                <a:lnTo>
                  <a:pt x="1738248" y="0"/>
                </a:lnTo>
                <a:close/>
              </a:path>
            </a:pathLst>
          </a:custGeom>
          <a:solidFill>
            <a:srgbClr val="484C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716814" y="8595246"/>
            <a:ext cx="2892425" cy="1692275"/>
          </a:xfrm>
          <a:custGeom>
            <a:avLst/>
            <a:gdLst/>
            <a:ahLst/>
            <a:cxnLst/>
            <a:rect l="l" t="t" r="r" b="b"/>
            <a:pathLst>
              <a:path w="2892425" h="1692275">
                <a:moveTo>
                  <a:pt x="1691749" y="0"/>
                </a:moveTo>
                <a:lnTo>
                  <a:pt x="0" y="1691752"/>
                </a:lnTo>
                <a:lnTo>
                  <a:pt x="2401118" y="1691752"/>
                </a:lnTo>
                <a:lnTo>
                  <a:pt x="2892305" y="1200565"/>
                </a:lnTo>
                <a:lnTo>
                  <a:pt x="1691749" y="0"/>
                </a:lnTo>
                <a:close/>
              </a:path>
            </a:pathLst>
          </a:custGeom>
          <a:solidFill>
            <a:srgbClr val="484C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132495" y="8057502"/>
            <a:ext cx="2371725" cy="2230120"/>
          </a:xfrm>
          <a:custGeom>
            <a:avLst/>
            <a:gdLst/>
            <a:ahLst/>
            <a:cxnLst/>
            <a:rect l="l" t="t" r="r" b="b"/>
            <a:pathLst>
              <a:path w="2371725" h="2230120">
                <a:moveTo>
                  <a:pt x="1738312" y="0"/>
                </a:moveTo>
                <a:lnTo>
                  <a:pt x="0" y="1740807"/>
                </a:lnTo>
                <a:lnTo>
                  <a:pt x="490630" y="2229495"/>
                </a:lnTo>
                <a:lnTo>
                  <a:pt x="774412" y="2229495"/>
                </a:lnTo>
                <a:lnTo>
                  <a:pt x="2371115" y="632790"/>
                </a:lnTo>
                <a:lnTo>
                  <a:pt x="1738312" y="0"/>
                </a:lnTo>
                <a:close/>
              </a:path>
            </a:pathLst>
          </a:custGeom>
          <a:solidFill>
            <a:srgbClr val="70B1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900026" y="6899998"/>
            <a:ext cx="5772150" cy="3387090"/>
          </a:xfrm>
          <a:custGeom>
            <a:avLst/>
            <a:gdLst/>
            <a:ahLst/>
            <a:cxnLst/>
            <a:rect l="l" t="t" r="r" b="b"/>
            <a:pathLst>
              <a:path w="5772150" h="3387090">
                <a:moveTo>
                  <a:pt x="2887344" y="0"/>
                </a:moveTo>
                <a:lnTo>
                  <a:pt x="0" y="2886048"/>
                </a:lnTo>
                <a:lnTo>
                  <a:pt x="501124" y="3386998"/>
                </a:lnTo>
                <a:lnTo>
                  <a:pt x="5271444" y="3386998"/>
                </a:lnTo>
                <a:lnTo>
                  <a:pt x="5772124" y="2886098"/>
                </a:lnTo>
                <a:lnTo>
                  <a:pt x="2887344" y="0"/>
                </a:lnTo>
                <a:close/>
              </a:path>
            </a:pathLst>
          </a:custGeom>
          <a:solidFill>
            <a:srgbClr val="70B1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2344420" cy="2506345"/>
          </a:xfrm>
          <a:custGeom>
            <a:avLst/>
            <a:gdLst/>
            <a:ahLst/>
            <a:cxnLst/>
            <a:rect l="l" t="t" r="r" b="b"/>
            <a:pathLst>
              <a:path w="2344420" h="2506345">
                <a:moveTo>
                  <a:pt x="1909360" y="0"/>
                </a:moveTo>
                <a:lnTo>
                  <a:pt x="0" y="0"/>
                </a:lnTo>
                <a:lnTo>
                  <a:pt x="0" y="2234839"/>
                </a:lnTo>
                <a:lnTo>
                  <a:pt x="271011" y="2506014"/>
                </a:lnTo>
                <a:lnTo>
                  <a:pt x="2343949" y="434327"/>
                </a:lnTo>
                <a:lnTo>
                  <a:pt x="1909360" y="0"/>
                </a:lnTo>
                <a:close/>
              </a:path>
            </a:pathLst>
          </a:custGeom>
          <a:solidFill>
            <a:srgbClr val="70B1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2829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55873" y="1035240"/>
            <a:ext cx="12858975" cy="23226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66921" y="3865435"/>
            <a:ext cx="10141585" cy="3248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2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5.xml"/><Relationship Id="rId1" Type="http://schemas.openxmlformats.org/officeDocument/2006/relationships/video" Target="https://www.youtube.com/embed/bBC-nXj3Ng4?feature=oembed" TargetMode="External"/><Relationship Id="rId4" Type="http://schemas.openxmlformats.org/officeDocument/2006/relationships/comments" Target="../comments/commen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3551" y="2627477"/>
            <a:ext cx="8307070" cy="3675365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 marR="5080">
              <a:lnSpc>
                <a:spcPts val="6830"/>
              </a:lnSpc>
              <a:spcBef>
                <a:spcPts val="1460"/>
              </a:spcBef>
            </a:pPr>
            <a:r>
              <a:rPr lang="en-US" sz="6800" spc="240" dirty="0">
                <a:solidFill>
                  <a:srgbClr val="FFFFFF"/>
                </a:solidFill>
                <a:latin typeface="Cambria"/>
                <a:cs typeface="Cambria"/>
              </a:rPr>
              <a:t>Blockchain and Cryptocurrencies: New Technologies in the Financial World.</a:t>
            </a:r>
            <a:endParaRPr lang="en-US" sz="6800" b="1" dirty="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71782" y="0"/>
            <a:ext cx="3476625" cy="1929764"/>
            <a:chOff x="11371782" y="0"/>
            <a:chExt cx="3476625" cy="1929764"/>
          </a:xfrm>
        </p:grpSpPr>
        <p:sp>
          <p:nvSpPr>
            <p:cNvPr id="3" name="object 3"/>
            <p:cNvSpPr/>
            <p:nvPr/>
          </p:nvSpPr>
          <p:spPr>
            <a:xfrm>
              <a:off x="11907024" y="0"/>
              <a:ext cx="2941955" cy="1929764"/>
            </a:xfrm>
            <a:custGeom>
              <a:avLst/>
              <a:gdLst/>
              <a:ahLst/>
              <a:cxnLst/>
              <a:rect l="l" t="t" r="r" b="b"/>
              <a:pathLst>
                <a:path w="2941955" h="1929764">
                  <a:moveTo>
                    <a:pt x="2749659" y="0"/>
                  </a:moveTo>
                  <a:lnTo>
                    <a:pt x="729140" y="0"/>
                  </a:lnTo>
                  <a:lnTo>
                    <a:pt x="0" y="729119"/>
                  </a:lnTo>
                  <a:lnTo>
                    <a:pt x="1203058" y="1929688"/>
                  </a:lnTo>
                  <a:lnTo>
                    <a:pt x="2941383" y="191427"/>
                  </a:lnTo>
                  <a:lnTo>
                    <a:pt x="2749659" y="0"/>
                  </a:lnTo>
                  <a:close/>
                </a:path>
              </a:pathLst>
            </a:custGeom>
            <a:solidFill>
              <a:srgbClr val="484C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71782" y="0"/>
              <a:ext cx="1454785" cy="824230"/>
            </a:xfrm>
            <a:custGeom>
              <a:avLst/>
              <a:gdLst/>
              <a:ahLst/>
              <a:cxnLst/>
              <a:rect l="l" t="t" r="r" b="b"/>
              <a:pathLst>
                <a:path w="1454784" h="824230">
                  <a:moveTo>
                    <a:pt x="1454454" y="0"/>
                  </a:moveTo>
                  <a:lnTo>
                    <a:pt x="191374" y="0"/>
                  </a:lnTo>
                  <a:lnTo>
                    <a:pt x="0" y="191376"/>
                  </a:lnTo>
                  <a:lnTo>
                    <a:pt x="630288" y="824166"/>
                  </a:lnTo>
                  <a:lnTo>
                    <a:pt x="1454454" y="0"/>
                  </a:lnTo>
                  <a:close/>
                </a:path>
              </a:pathLst>
            </a:custGeom>
            <a:solidFill>
              <a:srgbClr val="70B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0" y="0"/>
            <a:ext cx="6746875" cy="7459345"/>
            <a:chOff x="0" y="0"/>
            <a:chExt cx="6746875" cy="7459345"/>
          </a:xfrm>
        </p:grpSpPr>
        <p:sp>
          <p:nvSpPr>
            <p:cNvPr id="6" name="object 6"/>
            <p:cNvSpPr/>
            <p:nvPr/>
          </p:nvSpPr>
          <p:spPr>
            <a:xfrm>
              <a:off x="5334279" y="0"/>
              <a:ext cx="1412240" cy="1219200"/>
            </a:xfrm>
            <a:custGeom>
              <a:avLst/>
              <a:gdLst/>
              <a:ahLst/>
              <a:cxnLst/>
              <a:rect l="l" t="t" r="r" b="b"/>
              <a:pathLst>
                <a:path w="1412240" h="1219200">
                  <a:moveTo>
                    <a:pt x="1412225" y="0"/>
                  </a:moveTo>
                  <a:lnTo>
                    <a:pt x="1025754" y="0"/>
                  </a:lnTo>
                  <a:lnTo>
                    <a:pt x="0" y="1026667"/>
                  </a:lnTo>
                  <a:lnTo>
                    <a:pt x="192227" y="1218907"/>
                  </a:lnTo>
                  <a:lnTo>
                    <a:pt x="1412225" y="0"/>
                  </a:lnTo>
                  <a:close/>
                </a:path>
              </a:pathLst>
            </a:custGeom>
            <a:solidFill>
              <a:srgbClr val="70B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81782" y="605561"/>
              <a:ext cx="3476625" cy="3476625"/>
            </a:xfrm>
            <a:custGeom>
              <a:avLst/>
              <a:gdLst/>
              <a:ahLst/>
              <a:cxnLst/>
              <a:rect l="l" t="t" r="r" b="b"/>
              <a:pathLst>
                <a:path w="3476625" h="3476625">
                  <a:moveTo>
                    <a:pt x="1739557" y="0"/>
                  </a:moveTo>
                  <a:lnTo>
                    <a:pt x="0" y="1738312"/>
                  </a:lnTo>
                  <a:lnTo>
                    <a:pt x="1739557" y="3476625"/>
                  </a:lnTo>
                  <a:lnTo>
                    <a:pt x="3476612" y="1738312"/>
                  </a:lnTo>
                  <a:lnTo>
                    <a:pt x="1739557" y="0"/>
                  </a:lnTo>
                  <a:close/>
                </a:path>
              </a:pathLst>
            </a:custGeom>
            <a:solidFill>
              <a:srgbClr val="484C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010552"/>
              <a:ext cx="4470400" cy="6448425"/>
            </a:xfrm>
            <a:custGeom>
              <a:avLst/>
              <a:gdLst/>
              <a:ahLst/>
              <a:cxnLst/>
              <a:rect l="l" t="t" r="r" b="b"/>
              <a:pathLst>
                <a:path w="4470400" h="6448425">
                  <a:moveTo>
                    <a:pt x="1247238" y="0"/>
                  </a:moveTo>
                  <a:lnTo>
                    <a:pt x="0" y="1247239"/>
                  </a:lnTo>
                  <a:lnTo>
                    <a:pt x="0" y="5202157"/>
                  </a:lnTo>
                  <a:lnTo>
                    <a:pt x="1247238" y="6448424"/>
                  </a:lnTo>
                  <a:lnTo>
                    <a:pt x="4470196" y="3225469"/>
                  </a:lnTo>
                  <a:lnTo>
                    <a:pt x="1247238" y="0"/>
                  </a:lnTo>
                  <a:close/>
                </a:path>
              </a:pathLst>
            </a:custGeom>
            <a:solidFill>
              <a:srgbClr val="70B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3284325" y="0"/>
            <a:ext cx="5003800" cy="5329555"/>
          </a:xfrm>
          <a:custGeom>
            <a:avLst/>
            <a:gdLst/>
            <a:ahLst/>
            <a:cxnLst/>
            <a:rect l="l" t="t" r="r" b="b"/>
            <a:pathLst>
              <a:path w="5003800" h="5329555">
                <a:moveTo>
                  <a:pt x="4344877" y="0"/>
                </a:moveTo>
                <a:lnTo>
                  <a:pt x="2105121" y="0"/>
                </a:lnTo>
                <a:lnTo>
                  <a:pt x="0" y="2103513"/>
                </a:lnTo>
                <a:lnTo>
                  <a:pt x="3225418" y="5328983"/>
                </a:lnTo>
                <a:lnTo>
                  <a:pt x="5003723" y="3549319"/>
                </a:lnTo>
                <a:lnTo>
                  <a:pt x="5003723" y="658835"/>
                </a:lnTo>
                <a:lnTo>
                  <a:pt x="4344877" y="0"/>
                </a:lnTo>
                <a:close/>
              </a:path>
            </a:pathLst>
          </a:custGeom>
          <a:solidFill>
            <a:srgbClr val="484C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6176" y="0"/>
            <a:ext cx="4335145" cy="2166620"/>
          </a:xfrm>
          <a:custGeom>
            <a:avLst/>
            <a:gdLst/>
            <a:ahLst/>
            <a:cxnLst/>
            <a:rect l="l" t="t" r="r" b="b"/>
            <a:pathLst>
              <a:path w="4335145" h="2166620">
                <a:moveTo>
                  <a:pt x="4334637" y="0"/>
                </a:moveTo>
                <a:lnTo>
                  <a:pt x="0" y="0"/>
                </a:lnTo>
                <a:lnTo>
                  <a:pt x="2167321" y="2166480"/>
                </a:lnTo>
                <a:lnTo>
                  <a:pt x="4334637" y="0"/>
                </a:lnTo>
                <a:close/>
              </a:path>
            </a:pathLst>
          </a:custGeom>
          <a:solidFill>
            <a:srgbClr val="484C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055873" y="1970392"/>
            <a:ext cx="7487920" cy="765594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2614930" marR="5080" indent="-2602865">
              <a:lnSpc>
                <a:spcPts val="4880"/>
              </a:lnSpc>
              <a:spcBef>
                <a:spcPts val="1070"/>
              </a:spcBef>
            </a:pPr>
            <a:r>
              <a:rPr lang="en-US" sz="4850" spc="240" dirty="0"/>
              <a:t>Presentation content:</a:t>
            </a:r>
            <a:endParaRPr sz="4850" dirty="0"/>
          </a:p>
        </p:txBody>
      </p:sp>
      <p:sp>
        <p:nvSpPr>
          <p:cNvPr id="16" name="Прямоугольник: скругленные углы 15">
            <a:hlinkClick r:id="rId2" action="ppaction://hlinksldjump"/>
            <a:extLst>
              <a:ext uri="{FF2B5EF4-FFF2-40B4-BE49-F238E27FC236}">
                <a16:creationId xmlns:a16="http://schemas.microsoft.com/office/drawing/2014/main" id="{C269D18E-7DA2-4477-B99C-B14C38B46364}"/>
              </a:ext>
            </a:extLst>
          </p:cNvPr>
          <p:cNvSpPr/>
          <p:nvPr/>
        </p:nvSpPr>
        <p:spPr>
          <a:xfrm>
            <a:off x="4869571" y="3035713"/>
            <a:ext cx="7432043" cy="5511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Introduction</a:t>
            </a:r>
          </a:p>
        </p:txBody>
      </p:sp>
      <p:sp>
        <p:nvSpPr>
          <p:cNvPr id="17" name="Прямоугольник: скругленные углы 16">
            <a:hlinkClick r:id="rId3" action="ppaction://hlinksldjump"/>
            <a:extLst>
              <a:ext uri="{FF2B5EF4-FFF2-40B4-BE49-F238E27FC236}">
                <a16:creationId xmlns:a16="http://schemas.microsoft.com/office/drawing/2014/main" id="{E7D3FBDE-A77B-4199-88C4-D2C4E6B098ED}"/>
              </a:ext>
            </a:extLst>
          </p:cNvPr>
          <p:cNvSpPr/>
          <p:nvPr/>
        </p:nvSpPr>
        <p:spPr>
          <a:xfrm>
            <a:off x="4869570" y="3817486"/>
            <a:ext cx="7432043" cy="5511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Popularity</a:t>
            </a:r>
          </a:p>
        </p:txBody>
      </p:sp>
      <p:sp>
        <p:nvSpPr>
          <p:cNvPr id="18" name="Прямоугольник: скругленные углы 17">
            <a:hlinkClick r:id="rId4" action="ppaction://hlinksldjump"/>
            <a:extLst>
              <a:ext uri="{FF2B5EF4-FFF2-40B4-BE49-F238E27FC236}">
                <a16:creationId xmlns:a16="http://schemas.microsoft.com/office/drawing/2014/main" id="{B84CFA15-7071-4B5F-B1C5-0BFF7FDFEB41}"/>
              </a:ext>
            </a:extLst>
          </p:cNvPr>
          <p:cNvSpPr/>
          <p:nvPr/>
        </p:nvSpPr>
        <p:spPr>
          <a:xfrm>
            <a:off x="4869569" y="4596772"/>
            <a:ext cx="7432043" cy="5511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Video</a:t>
            </a:r>
          </a:p>
        </p:txBody>
      </p:sp>
      <p:sp>
        <p:nvSpPr>
          <p:cNvPr id="19" name="Прямоугольник: скругленные углы 18">
            <a:hlinkClick r:id="rId5" action="ppaction://hlinksldjump"/>
            <a:extLst>
              <a:ext uri="{FF2B5EF4-FFF2-40B4-BE49-F238E27FC236}">
                <a16:creationId xmlns:a16="http://schemas.microsoft.com/office/drawing/2014/main" id="{763C1638-5F96-4EA8-B73D-9374C6AA8618}"/>
              </a:ext>
            </a:extLst>
          </p:cNvPr>
          <p:cNvSpPr/>
          <p:nvPr/>
        </p:nvSpPr>
        <p:spPr>
          <a:xfrm>
            <a:off x="4890206" y="5376058"/>
            <a:ext cx="7432043" cy="5511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16555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89185" y="0"/>
            <a:ext cx="3388360" cy="1694180"/>
          </a:xfrm>
          <a:custGeom>
            <a:avLst/>
            <a:gdLst/>
            <a:ahLst/>
            <a:cxnLst/>
            <a:rect l="l" t="t" r="r" b="b"/>
            <a:pathLst>
              <a:path w="3388359" h="1694180">
                <a:moveTo>
                  <a:pt x="3388258" y="0"/>
                </a:moveTo>
                <a:lnTo>
                  <a:pt x="0" y="0"/>
                </a:lnTo>
                <a:lnTo>
                  <a:pt x="1694129" y="1694129"/>
                </a:lnTo>
                <a:lnTo>
                  <a:pt x="3388258" y="0"/>
                </a:lnTo>
                <a:close/>
              </a:path>
            </a:pathLst>
          </a:custGeom>
          <a:solidFill>
            <a:srgbClr val="70B1D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157500"/>
            <a:ext cx="1786889" cy="3476625"/>
            <a:chOff x="0" y="3157500"/>
            <a:chExt cx="1786889" cy="3476625"/>
          </a:xfrm>
        </p:grpSpPr>
        <p:sp>
          <p:nvSpPr>
            <p:cNvPr id="4" name="object 4"/>
            <p:cNvSpPr/>
            <p:nvPr/>
          </p:nvSpPr>
          <p:spPr>
            <a:xfrm>
              <a:off x="0" y="3695256"/>
              <a:ext cx="1786889" cy="2939415"/>
            </a:xfrm>
            <a:custGeom>
              <a:avLst/>
              <a:gdLst/>
              <a:ahLst/>
              <a:cxnLst/>
              <a:rect l="l" t="t" r="r" b="b"/>
              <a:pathLst>
                <a:path w="1786889" h="2939415">
                  <a:moveTo>
                    <a:pt x="586065" y="0"/>
                  </a:moveTo>
                  <a:lnTo>
                    <a:pt x="0" y="586065"/>
                  </a:lnTo>
                  <a:lnTo>
                    <a:pt x="0" y="2890554"/>
                  </a:lnTo>
                  <a:lnTo>
                    <a:pt x="48314" y="2938868"/>
                  </a:lnTo>
                  <a:lnTo>
                    <a:pt x="1786623" y="1200556"/>
                  </a:lnTo>
                  <a:lnTo>
                    <a:pt x="586065" y="0"/>
                  </a:lnTo>
                  <a:close/>
                </a:path>
              </a:pathLst>
            </a:custGeom>
            <a:solidFill>
              <a:srgbClr val="484C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157500"/>
              <a:ext cx="681355" cy="1314450"/>
            </a:xfrm>
            <a:custGeom>
              <a:avLst/>
              <a:gdLst/>
              <a:ahLst/>
              <a:cxnLst/>
              <a:rect l="l" t="t" r="r" b="b"/>
              <a:pathLst>
                <a:path w="681355" h="1314450">
                  <a:moveTo>
                    <a:pt x="48314" y="0"/>
                  </a:moveTo>
                  <a:lnTo>
                    <a:pt x="0" y="48314"/>
                  </a:lnTo>
                  <a:lnTo>
                    <a:pt x="0" y="1313910"/>
                  </a:lnTo>
                  <a:lnTo>
                    <a:pt x="681107" y="632802"/>
                  </a:lnTo>
                  <a:lnTo>
                    <a:pt x="48314" y="0"/>
                  </a:lnTo>
                  <a:close/>
                </a:path>
              </a:pathLst>
            </a:custGeom>
            <a:solidFill>
              <a:srgbClr val="70B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081166" y="1783933"/>
            <a:ext cx="11908383" cy="128811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430"/>
              </a:lnSpc>
              <a:spcBef>
                <a:spcPts val="980"/>
              </a:spcBef>
            </a:pPr>
            <a:r>
              <a:rPr sz="6000" spc="175" dirty="0"/>
              <a:t>Understanding </a:t>
            </a:r>
            <a:r>
              <a:rPr sz="6000" spc="160" dirty="0"/>
              <a:t>Blockchain </a:t>
            </a:r>
            <a:r>
              <a:rPr sz="6000" spc="150" dirty="0"/>
              <a:t>Technology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356100" y="4006850"/>
            <a:ext cx="13950950" cy="30643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667000" marR="1807210" indent="-873125" algn="l">
              <a:lnSpc>
                <a:spcPts val="3229"/>
              </a:lnSpc>
              <a:spcBef>
                <a:spcPts val="215"/>
              </a:spcBef>
            </a:pPr>
            <a:r>
              <a:rPr lang="en-US" sz="3600" dirty="0">
                <a:solidFill>
                  <a:srgbClr val="FFFFFF"/>
                </a:solidFill>
                <a:latin typeface="Lucida Sans Unicode"/>
                <a:cs typeface="Lucida Sans Unicode"/>
              </a:rPr>
              <a:t>In recent years,</a:t>
            </a:r>
            <a:r>
              <a:rPr lang="ru-RU" sz="36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en-US" sz="3600" dirty="0">
                <a:solidFill>
                  <a:srgbClr val="FFFFFF"/>
                </a:solidFill>
                <a:latin typeface="Lucida Sans Unicode"/>
                <a:cs typeface="Lucida Sans Unicode"/>
              </a:rPr>
              <a:t>blockchain  technology and </a:t>
            </a:r>
          </a:p>
          <a:p>
            <a:pPr marL="2667000" marR="1807210" indent="-873125" algn="l">
              <a:lnSpc>
                <a:spcPts val="3229"/>
              </a:lnSpc>
              <a:spcBef>
                <a:spcPts val="215"/>
              </a:spcBef>
            </a:pPr>
            <a:r>
              <a:rPr lang="en-US" sz="3600" dirty="0">
                <a:solidFill>
                  <a:srgbClr val="FFFFFF"/>
                </a:solidFill>
                <a:latin typeface="Lucida Sans Unicode"/>
                <a:cs typeface="Lucida Sans Unicode"/>
              </a:rPr>
              <a:t>cryptocurrencies have emerged as </a:t>
            </a:r>
            <a:endParaRPr lang="ru-RU" sz="3600" dirty="0">
              <a:solidFill>
                <a:srgbClr val="FFFFFF"/>
              </a:solidFill>
              <a:latin typeface="Lucida Sans Unicode"/>
              <a:cs typeface="Lucida Sans Unicode"/>
            </a:endParaRPr>
          </a:p>
          <a:p>
            <a:pPr marL="2667000" marR="1807210" indent="-873125" algn="l">
              <a:lnSpc>
                <a:spcPts val="3229"/>
              </a:lnSpc>
              <a:spcBef>
                <a:spcPts val="215"/>
              </a:spcBef>
            </a:pPr>
            <a:r>
              <a:rPr lang="en-US" sz="3600" dirty="0">
                <a:solidFill>
                  <a:srgbClr val="FFFFFF"/>
                </a:solidFill>
                <a:latin typeface="Lucida Sans Unicode"/>
                <a:cs typeface="Lucida Sans Unicode"/>
              </a:rPr>
              <a:t>transformative forces in the financial </a:t>
            </a:r>
            <a:endParaRPr lang="ru-RU" sz="3600" dirty="0">
              <a:solidFill>
                <a:srgbClr val="FFFFFF"/>
              </a:solidFill>
              <a:latin typeface="Lucida Sans Unicode"/>
              <a:cs typeface="Lucida Sans Unicode"/>
            </a:endParaRPr>
          </a:p>
          <a:p>
            <a:pPr marL="2667000" marR="1807210" indent="-873125" algn="l">
              <a:lnSpc>
                <a:spcPts val="3229"/>
              </a:lnSpc>
              <a:spcBef>
                <a:spcPts val="215"/>
              </a:spcBef>
            </a:pPr>
            <a:r>
              <a:rPr lang="en-US" sz="3600" dirty="0">
                <a:solidFill>
                  <a:srgbClr val="FFFFFF"/>
                </a:solidFill>
                <a:latin typeface="Lucida Sans Unicode"/>
                <a:cs typeface="Lucida Sans Unicode"/>
              </a:rPr>
              <a:t>sector. This presentation explores </a:t>
            </a:r>
            <a:endParaRPr lang="ru-RU" sz="3600" dirty="0">
              <a:solidFill>
                <a:srgbClr val="FFFFFF"/>
              </a:solidFill>
              <a:latin typeface="Lucida Sans Unicode"/>
              <a:cs typeface="Lucida Sans Unicode"/>
            </a:endParaRPr>
          </a:p>
          <a:p>
            <a:pPr marL="2667000" marR="1807210" indent="-873125" algn="l">
              <a:lnSpc>
                <a:spcPts val="3229"/>
              </a:lnSpc>
              <a:spcBef>
                <a:spcPts val="215"/>
              </a:spcBef>
            </a:pPr>
            <a:r>
              <a:rPr lang="en-US" sz="3600" dirty="0">
                <a:solidFill>
                  <a:srgbClr val="FFFFFF"/>
                </a:solidFill>
                <a:latin typeface="Lucida Sans Unicode"/>
                <a:cs typeface="Lucida Sans Unicode"/>
              </a:rPr>
              <a:t>their impact on, including changes to </a:t>
            </a:r>
            <a:endParaRPr lang="ru-RU" sz="3600" dirty="0">
              <a:solidFill>
                <a:srgbClr val="FFFFFF"/>
              </a:solidFill>
              <a:latin typeface="Lucida Sans Unicode"/>
              <a:cs typeface="Lucida Sans Unicode"/>
            </a:endParaRPr>
          </a:p>
          <a:p>
            <a:pPr marL="2667000" marR="1807210" indent="-873125" algn="l">
              <a:lnSpc>
                <a:spcPts val="3229"/>
              </a:lnSpc>
              <a:spcBef>
                <a:spcPts val="215"/>
              </a:spcBef>
            </a:pPr>
            <a:r>
              <a:rPr lang="en-US" sz="3600" dirty="0">
                <a:solidFill>
                  <a:srgbClr val="FFFFFF"/>
                </a:solidFill>
                <a:latin typeface="Lucida Sans Unicode"/>
                <a:cs typeface="Lucida Sans Unicode"/>
              </a:rPr>
              <a:t>transaction processes, security, and </a:t>
            </a:r>
            <a:endParaRPr lang="ru-RU" sz="3600" dirty="0">
              <a:solidFill>
                <a:srgbClr val="FFFFFF"/>
              </a:solidFill>
              <a:latin typeface="Lucida Sans Unicode"/>
              <a:cs typeface="Lucida Sans Unicode"/>
            </a:endParaRPr>
          </a:p>
          <a:p>
            <a:pPr marL="2667000" marR="1807210" indent="-873125" algn="l">
              <a:lnSpc>
                <a:spcPts val="3229"/>
              </a:lnSpc>
              <a:spcBef>
                <a:spcPts val="215"/>
              </a:spcBef>
            </a:pPr>
            <a:r>
              <a:rPr lang="en-US" sz="3600" dirty="0">
                <a:solidFill>
                  <a:srgbClr val="FFFFFF"/>
                </a:solidFill>
                <a:latin typeface="Lucida Sans Unicode"/>
                <a:cs typeface="Lucida Sans Unicode"/>
              </a:rPr>
              <a:t>customer engagement</a:t>
            </a:r>
            <a:endParaRPr sz="3600" dirty="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081166" y="3321487"/>
            <a:ext cx="12219534" cy="186474"/>
          </a:xfrm>
          <a:custGeom>
            <a:avLst/>
            <a:gdLst/>
            <a:ahLst/>
            <a:cxnLst/>
            <a:rect l="l" t="t" r="r" b="b"/>
            <a:pathLst>
              <a:path w="3476625" h="95250">
                <a:moveTo>
                  <a:pt x="3476625" y="0"/>
                </a:moveTo>
                <a:lnTo>
                  <a:pt x="0" y="0"/>
                </a:lnTo>
                <a:lnTo>
                  <a:pt x="0" y="95250"/>
                </a:lnTo>
                <a:lnTo>
                  <a:pt x="3476625" y="95250"/>
                </a:lnTo>
                <a:lnTo>
                  <a:pt x="3476625" y="0"/>
                </a:lnTo>
                <a:close/>
              </a:path>
            </a:pathLst>
          </a:custGeom>
          <a:solidFill>
            <a:srgbClr val="70B1D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71782" y="0"/>
            <a:ext cx="3476625" cy="1929764"/>
            <a:chOff x="11371782" y="0"/>
            <a:chExt cx="3476625" cy="1929764"/>
          </a:xfrm>
        </p:grpSpPr>
        <p:sp>
          <p:nvSpPr>
            <p:cNvPr id="3" name="object 3"/>
            <p:cNvSpPr/>
            <p:nvPr/>
          </p:nvSpPr>
          <p:spPr>
            <a:xfrm>
              <a:off x="11907024" y="0"/>
              <a:ext cx="2941955" cy="1929764"/>
            </a:xfrm>
            <a:custGeom>
              <a:avLst/>
              <a:gdLst/>
              <a:ahLst/>
              <a:cxnLst/>
              <a:rect l="l" t="t" r="r" b="b"/>
              <a:pathLst>
                <a:path w="2941955" h="1929764">
                  <a:moveTo>
                    <a:pt x="2749659" y="0"/>
                  </a:moveTo>
                  <a:lnTo>
                    <a:pt x="729140" y="0"/>
                  </a:lnTo>
                  <a:lnTo>
                    <a:pt x="0" y="729119"/>
                  </a:lnTo>
                  <a:lnTo>
                    <a:pt x="1203058" y="1929688"/>
                  </a:lnTo>
                  <a:lnTo>
                    <a:pt x="2941383" y="191427"/>
                  </a:lnTo>
                  <a:lnTo>
                    <a:pt x="2749659" y="0"/>
                  </a:lnTo>
                  <a:close/>
                </a:path>
              </a:pathLst>
            </a:custGeom>
            <a:solidFill>
              <a:srgbClr val="484C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71782" y="0"/>
              <a:ext cx="1454785" cy="824230"/>
            </a:xfrm>
            <a:custGeom>
              <a:avLst/>
              <a:gdLst/>
              <a:ahLst/>
              <a:cxnLst/>
              <a:rect l="l" t="t" r="r" b="b"/>
              <a:pathLst>
                <a:path w="1454784" h="824230">
                  <a:moveTo>
                    <a:pt x="1454454" y="0"/>
                  </a:moveTo>
                  <a:lnTo>
                    <a:pt x="191374" y="0"/>
                  </a:lnTo>
                  <a:lnTo>
                    <a:pt x="0" y="191376"/>
                  </a:lnTo>
                  <a:lnTo>
                    <a:pt x="630288" y="824166"/>
                  </a:lnTo>
                  <a:lnTo>
                    <a:pt x="1454454" y="0"/>
                  </a:lnTo>
                  <a:close/>
                </a:path>
              </a:pathLst>
            </a:custGeom>
            <a:solidFill>
              <a:srgbClr val="70B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0" y="0"/>
            <a:ext cx="6746875" cy="7459345"/>
            <a:chOff x="0" y="0"/>
            <a:chExt cx="6746875" cy="7459345"/>
          </a:xfrm>
        </p:grpSpPr>
        <p:sp>
          <p:nvSpPr>
            <p:cNvPr id="6" name="object 6"/>
            <p:cNvSpPr/>
            <p:nvPr/>
          </p:nvSpPr>
          <p:spPr>
            <a:xfrm>
              <a:off x="5334279" y="0"/>
              <a:ext cx="1412240" cy="1219200"/>
            </a:xfrm>
            <a:custGeom>
              <a:avLst/>
              <a:gdLst/>
              <a:ahLst/>
              <a:cxnLst/>
              <a:rect l="l" t="t" r="r" b="b"/>
              <a:pathLst>
                <a:path w="1412240" h="1219200">
                  <a:moveTo>
                    <a:pt x="1412225" y="0"/>
                  </a:moveTo>
                  <a:lnTo>
                    <a:pt x="1025754" y="0"/>
                  </a:lnTo>
                  <a:lnTo>
                    <a:pt x="0" y="1026667"/>
                  </a:lnTo>
                  <a:lnTo>
                    <a:pt x="192227" y="1218907"/>
                  </a:lnTo>
                  <a:lnTo>
                    <a:pt x="1412225" y="0"/>
                  </a:lnTo>
                  <a:close/>
                </a:path>
              </a:pathLst>
            </a:custGeom>
            <a:solidFill>
              <a:srgbClr val="70B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81782" y="605561"/>
              <a:ext cx="3476625" cy="3476625"/>
            </a:xfrm>
            <a:custGeom>
              <a:avLst/>
              <a:gdLst/>
              <a:ahLst/>
              <a:cxnLst/>
              <a:rect l="l" t="t" r="r" b="b"/>
              <a:pathLst>
                <a:path w="3476625" h="3476625">
                  <a:moveTo>
                    <a:pt x="1739557" y="0"/>
                  </a:moveTo>
                  <a:lnTo>
                    <a:pt x="0" y="1738312"/>
                  </a:lnTo>
                  <a:lnTo>
                    <a:pt x="1739557" y="3476625"/>
                  </a:lnTo>
                  <a:lnTo>
                    <a:pt x="3476612" y="1738312"/>
                  </a:lnTo>
                  <a:lnTo>
                    <a:pt x="1739557" y="0"/>
                  </a:lnTo>
                  <a:close/>
                </a:path>
              </a:pathLst>
            </a:custGeom>
            <a:solidFill>
              <a:srgbClr val="484C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010552"/>
              <a:ext cx="4470400" cy="6448425"/>
            </a:xfrm>
            <a:custGeom>
              <a:avLst/>
              <a:gdLst/>
              <a:ahLst/>
              <a:cxnLst/>
              <a:rect l="l" t="t" r="r" b="b"/>
              <a:pathLst>
                <a:path w="4470400" h="6448425">
                  <a:moveTo>
                    <a:pt x="1247238" y="0"/>
                  </a:moveTo>
                  <a:lnTo>
                    <a:pt x="0" y="1247239"/>
                  </a:lnTo>
                  <a:lnTo>
                    <a:pt x="0" y="5202157"/>
                  </a:lnTo>
                  <a:lnTo>
                    <a:pt x="1247238" y="6448424"/>
                  </a:lnTo>
                  <a:lnTo>
                    <a:pt x="4470196" y="3225469"/>
                  </a:lnTo>
                  <a:lnTo>
                    <a:pt x="1247238" y="0"/>
                  </a:lnTo>
                  <a:close/>
                </a:path>
              </a:pathLst>
            </a:custGeom>
            <a:solidFill>
              <a:srgbClr val="70B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3284325" y="0"/>
            <a:ext cx="5003800" cy="5329555"/>
          </a:xfrm>
          <a:custGeom>
            <a:avLst/>
            <a:gdLst/>
            <a:ahLst/>
            <a:cxnLst/>
            <a:rect l="l" t="t" r="r" b="b"/>
            <a:pathLst>
              <a:path w="5003800" h="5329555">
                <a:moveTo>
                  <a:pt x="4344877" y="0"/>
                </a:moveTo>
                <a:lnTo>
                  <a:pt x="2105121" y="0"/>
                </a:lnTo>
                <a:lnTo>
                  <a:pt x="0" y="2103513"/>
                </a:lnTo>
                <a:lnTo>
                  <a:pt x="3225418" y="5328983"/>
                </a:lnTo>
                <a:lnTo>
                  <a:pt x="5003723" y="3549319"/>
                </a:lnTo>
                <a:lnTo>
                  <a:pt x="5003723" y="658835"/>
                </a:lnTo>
                <a:lnTo>
                  <a:pt x="4344877" y="0"/>
                </a:lnTo>
                <a:close/>
              </a:path>
            </a:pathLst>
          </a:custGeom>
          <a:solidFill>
            <a:srgbClr val="484C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6176" y="0"/>
            <a:ext cx="4335145" cy="2166620"/>
          </a:xfrm>
          <a:custGeom>
            <a:avLst/>
            <a:gdLst/>
            <a:ahLst/>
            <a:cxnLst/>
            <a:rect l="l" t="t" r="r" b="b"/>
            <a:pathLst>
              <a:path w="4335145" h="2166620">
                <a:moveTo>
                  <a:pt x="4334637" y="0"/>
                </a:moveTo>
                <a:lnTo>
                  <a:pt x="0" y="0"/>
                </a:lnTo>
                <a:lnTo>
                  <a:pt x="2167321" y="2166480"/>
                </a:lnTo>
                <a:lnTo>
                  <a:pt x="4334637" y="0"/>
                </a:lnTo>
                <a:close/>
              </a:path>
            </a:pathLst>
          </a:custGeom>
          <a:solidFill>
            <a:srgbClr val="484C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578351" y="3479467"/>
            <a:ext cx="13106400" cy="847668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2614930" marR="5080" indent="-2602865">
              <a:lnSpc>
                <a:spcPts val="4880"/>
              </a:lnSpc>
              <a:spcBef>
                <a:spcPts val="1070"/>
              </a:spcBef>
            </a:pPr>
            <a:r>
              <a:rPr lang="en-US" sz="8200" spc="240" dirty="0"/>
              <a:t>Popular cryptocurrencies</a:t>
            </a:r>
            <a:endParaRPr sz="8200" dirty="0"/>
          </a:p>
        </p:txBody>
      </p:sp>
      <p:graphicFrame>
        <p:nvGraphicFramePr>
          <p:cNvPr id="20" name="Таблица 20">
            <a:extLst>
              <a:ext uri="{FF2B5EF4-FFF2-40B4-BE49-F238E27FC236}">
                <a16:creationId xmlns:a16="http://schemas.microsoft.com/office/drawing/2014/main" id="{4A6D4616-0ABD-4A70-A84D-E76677D05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225100"/>
              </p:ext>
            </p:extLst>
          </p:nvPr>
        </p:nvGraphicFramePr>
        <p:xfrm>
          <a:off x="3742392" y="5008835"/>
          <a:ext cx="12043833" cy="387768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969678">
                  <a:extLst>
                    <a:ext uri="{9D8B030D-6E8A-4147-A177-3AD203B41FA5}">
                      <a16:colId xmlns:a16="http://schemas.microsoft.com/office/drawing/2014/main" val="285138383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3407194248"/>
                    </a:ext>
                  </a:extLst>
                </a:gridCol>
                <a:gridCol w="5273555">
                  <a:extLst>
                    <a:ext uri="{9D8B030D-6E8A-4147-A177-3AD203B41FA5}">
                      <a16:colId xmlns:a16="http://schemas.microsoft.com/office/drawing/2014/main" val="554042541"/>
                    </a:ext>
                  </a:extLst>
                </a:gridCol>
              </a:tblGrid>
              <a:tr h="775536"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  <a:endParaRPr lang="ru-KZ" dirty="0"/>
                    </a:p>
                  </a:txBody>
                  <a:tcPr>
                    <a:solidFill>
                      <a:srgbClr val="70B1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Bitcoin Market Cap (USD)</a:t>
                      </a:r>
                    </a:p>
                  </a:txBody>
                  <a:tcPr anchor="ctr">
                    <a:solidFill>
                      <a:srgbClr val="70B1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Ethereum Market Cap (USD)</a:t>
                      </a:r>
                    </a:p>
                  </a:txBody>
                  <a:tcPr anchor="ctr">
                    <a:solidFill>
                      <a:srgbClr val="70B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87984"/>
                  </a:ext>
                </a:extLst>
              </a:tr>
              <a:tr h="775536">
                <a:tc>
                  <a:txBody>
                    <a:bodyPr/>
                    <a:lstStyle/>
                    <a:p>
                      <a:r>
                        <a:rPr lang="ru-KZ" sz="2400" dirty="0">
                          <a:solidFill>
                            <a:schemeClr val="bg1"/>
                          </a:solidFill>
                        </a:rPr>
                        <a:t>2018</a:t>
                      </a:r>
                    </a:p>
                  </a:txBody>
                  <a:tcPr anchor="ctr">
                    <a:solidFill>
                      <a:srgbClr val="484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$120 </a:t>
                      </a:r>
                      <a:r>
                        <a:rPr lang="en-US" dirty="0"/>
                        <a:t>billion</a:t>
                      </a:r>
                      <a:endParaRPr lang="ru-KZ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$15 billion</a:t>
                      </a:r>
                      <a:endParaRPr lang="ru-RU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97556"/>
                  </a:ext>
                </a:extLst>
              </a:tr>
              <a:tr h="775536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chemeClr val="bg1"/>
                          </a:solidFill>
                        </a:rPr>
                        <a:t>2019</a:t>
                      </a:r>
                      <a:endParaRPr lang="ru-KZ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84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$180 </a:t>
                      </a:r>
                      <a:r>
                        <a:rPr lang="en-US" dirty="0"/>
                        <a:t>billion</a:t>
                      </a:r>
                      <a:endParaRPr lang="ru-KZ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$20 billion</a:t>
                      </a:r>
                      <a:endParaRPr lang="ru-KZ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9935"/>
                  </a:ext>
                </a:extLst>
              </a:tr>
              <a:tr h="775536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chemeClr val="bg1"/>
                          </a:solidFill>
                        </a:rPr>
                        <a:t>2020</a:t>
                      </a:r>
                      <a:endParaRPr lang="ru-KZ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84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$280</a:t>
                      </a:r>
                      <a:r>
                        <a:rPr lang="en-US" dirty="0"/>
                        <a:t> billion</a:t>
                      </a:r>
                      <a:endParaRPr lang="ru-KZ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$45 billion</a:t>
                      </a:r>
                      <a:endParaRPr lang="ru-KZ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763450"/>
                  </a:ext>
                </a:extLst>
              </a:tr>
              <a:tr h="775536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chemeClr val="bg1"/>
                          </a:solidFill>
                        </a:rPr>
                        <a:t>2021</a:t>
                      </a:r>
                      <a:endParaRPr lang="ru-KZ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84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</a:t>
                      </a:r>
                      <a:r>
                        <a:rPr lang="ru-RU" dirty="0"/>
                        <a:t>900</a:t>
                      </a:r>
                      <a:r>
                        <a:rPr lang="en-US" dirty="0"/>
                        <a:t> billion</a:t>
                      </a:r>
                      <a:endParaRPr lang="ru-KZ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$300 billion</a:t>
                      </a:r>
                      <a:endParaRPr lang="ru-KZ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859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1798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Мультимедиа в Интернете 3" title="But how does bitcoin actually work?">
            <a:hlinkClick r:id="" action="ppaction://media"/>
            <a:extLst>
              <a:ext uri="{FF2B5EF4-FFF2-40B4-BE49-F238E27FC236}">
                <a16:creationId xmlns:a16="http://schemas.microsoft.com/office/drawing/2014/main" id="{23A22606-EAEE-4AAD-B987-1CCDFCD9E5A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225550" y="543179"/>
            <a:ext cx="16306800" cy="921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29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71782" y="0"/>
            <a:ext cx="3476625" cy="1929764"/>
            <a:chOff x="11371782" y="0"/>
            <a:chExt cx="3476625" cy="1929764"/>
          </a:xfrm>
        </p:grpSpPr>
        <p:sp>
          <p:nvSpPr>
            <p:cNvPr id="3" name="object 3"/>
            <p:cNvSpPr/>
            <p:nvPr/>
          </p:nvSpPr>
          <p:spPr>
            <a:xfrm>
              <a:off x="11907024" y="0"/>
              <a:ext cx="2941955" cy="1929764"/>
            </a:xfrm>
            <a:custGeom>
              <a:avLst/>
              <a:gdLst/>
              <a:ahLst/>
              <a:cxnLst/>
              <a:rect l="l" t="t" r="r" b="b"/>
              <a:pathLst>
                <a:path w="2941955" h="1929764">
                  <a:moveTo>
                    <a:pt x="2749659" y="0"/>
                  </a:moveTo>
                  <a:lnTo>
                    <a:pt x="729140" y="0"/>
                  </a:lnTo>
                  <a:lnTo>
                    <a:pt x="0" y="729119"/>
                  </a:lnTo>
                  <a:lnTo>
                    <a:pt x="1203058" y="1929688"/>
                  </a:lnTo>
                  <a:lnTo>
                    <a:pt x="2941383" y="191427"/>
                  </a:lnTo>
                  <a:lnTo>
                    <a:pt x="2749659" y="0"/>
                  </a:lnTo>
                  <a:close/>
                </a:path>
              </a:pathLst>
            </a:custGeom>
            <a:solidFill>
              <a:srgbClr val="484C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71782" y="0"/>
              <a:ext cx="1454785" cy="824230"/>
            </a:xfrm>
            <a:custGeom>
              <a:avLst/>
              <a:gdLst/>
              <a:ahLst/>
              <a:cxnLst/>
              <a:rect l="l" t="t" r="r" b="b"/>
              <a:pathLst>
                <a:path w="1454784" h="824230">
                  <a:moveTo>
                    <a:pt x="1454454" y="0"/>
                  </a:moveTo>
                  <a:lnTo>
                    <a:pt x="191374" y="0"/>
                  </a:lnTo>
                  <a:lnTo>
                    <a:pt x="0" y="191376"/>
                  </a:lnTo>
                  <a:lnTo>
                    <a:pt x="630288" y="824166"/>
                  </a:lnTo>
                  <a:lnTo>
                    <a:pt x="1454454" y="0"/>
                  </a:lnTo>
                  <a:close/>
                </a:path>
              </a:pathLst>
            </a:custGeom>
            <a:solidFill>
              <a:srgbClr val="70B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0" y="0"/>
            <a:ext cx="6746875" cy="7459345"/>
            <a:chOff x="0" y="0"/>
            <a:chExt cx="6746875" cy="7459345"/>
          </a:xfrm>
        </p:grpSpPr>
        <p:sp>
          <p:nvSpPr>
            <p:cNvPr id="6" name="object 6"/>
            <p:cNvSpPr/>
            <p:nvPr/>
          </p:nvSpPr>
          <p:spPr>
            <a:xfrm>
              <a:off x="5334279" y="0"/>
              <a:ext cx="1412240" cy="1219200"/>
            </a:xfrm>
            <a:custGeom>
              <a:avLst/>
              <a:gdLst/>
              <a:ahLst/>
              <a:cxnLst/>
              <a:rect l="l" t="t" r="r" b="b"/>
              <a:pathLst>
                <a:path w="1412240" h="1219200">
                  <a:moveTo>
                    <a:pt x="1412225" y="0"/>
                  </a:moveTo>
                  <a:lnTo>
                    <a:pt x="1025754" y="0"/>
                  </a:lnTo>
                  <a:lnTo>
                    <a:pt x="0" y="1026667"/>
                  </a:lnTo>
                  <a:lnTo>
                    <a:pt x="192227" y="1218907"/>
                  </a:lnTo>
                  <a:lnTo>
                    <a:pt x="1412225" y="0"/>
                  </a:lnTo>
                  <a:close/>
                </a:path>
              </a:pathLst>
            </a:custGeom>
            <a:solidFill>
              <a:srgbClr val="70B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81782" y="605561"/>
              <a:ext cx="3476625" cy="3476625"/>
            </a:xfrm>
            <a:custGeom>
              <a:avLst/>
              <a:gdLst/>
              <a:ahLst/>
              <a:cxnLst/>
              <a:rect l="l" t="t" r="r" b="b"/>
              <a:pathLst>
                <a:path w="3476625" h="3476625">
                  <a:moveTo>
                    <a:pt x="1739557" y="0"/>
                  </a:moveTo>
                  <a:lnTo>
                    <a:pt x="0" y="1738312"/>
                  </a:lnTo>
                  <a:lnTo>
                    <a:pt x="1739557" y="3476625"/>
                  </a:lnTo>
                  <a:lnTo>
                    <a:pt x="3476612" y="1738312"/>
                  </a:lnTo>
                  <a:lnTo>
                    <a:pt x="1739557" y="0"/>
                  </a:lnTo>
                  <a:close/>
                </a:path>
              </a:pathLst>
            </a:custGeom>
            <a:solidFill>
              <a:srgbClr val="484C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010552"/>
              <a:ext cx="4470400" cy="6448425"/>
            </a:xfrm>
            <a:custGeom>
              <a:avLst/>
              <a:gdLst/>
              <a:ahLst/>
              <a:cxnLst/>
              <a:rect l="l" t="t" r="r" b="b"/>
              <a:pathLst>
                <a:path w="4470400" h="6448425">
                  <a:moveTo>
                    <a:pt x="1247238" y="0"/>
                  </a:moveTo>
                  <a:lnTo>
                    <a:pt x="0" y="1247239"/>
                  </a:lnTo>
                  <a:lnTo>
                    <a:pt x="0" y="5202157"/>
                  </a:lnTo>
                  <a:lnTo>
                    <a:pt x="1247238" y="6448424"/>
                  </a:lnTo>
                  <a:lnTo>
                    <a:pt x="4470196" y="3225469"/>
                  </a:lnTo>
                  <a:lnTo>
                    <a:pt x="1247238" y="0"/>
                  </a:lnTo>
                  <a:close/>
                </a:path>
              </a:pathLst>
            </a:custGeom>
            <a:solidFill>
              <a:srgbClr val="70B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3284325" y="0"/>
            <a:ext cx="5003800" cy="5329555"/>
          </a:xfrm>
          <a:custGeom>
            <a:avLst/>
            <a:gdLst/>
            <a:ahLst/>
            <a:cxnLst/>
            <a:rect l="l" t="t" r="r" b="b"/>
            <a:pathLst>
              <a:path w="5003800" h="5329555">
                <a:moveTo>
                  <a:pt x="4344877" y="0"/>
                </a:moveTo>
                <a:lnTo>
                  <a:pt x="2105121" y="0"/>
                </a:lnTo>
                <a:lnTo>
                  <a:pt x="0" y="2103513"/>
                </a:lnTo>
                <a:lnTo>
                  <a:pt x="3225418" y="5328983"/>
                </a:lnTo>
                <a:lnTo>
                  <a:pt x="5003723" y="3549319"/>
                </a:lnTo>
                <a:lnTo>
                  <a:pt x="5003723" y="658835"/>
                </a:lnTo>
                <a:lnTo>
                  <a:pt x="4344877" y="0"/>
                </a:lnTo>
                <a:close/>
              </a:path>
            </a:pathLst>
          </a:custGeom>
          <a:solidFill>
            <a:srgbClr val="484C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6176" y="0"/>
            <a:ext cx="4335145" cy="2166620"/>
          </a:xfrm>
          <a:custGeom>
            <a:avLst/>
            <a:gdLst/>
            <a:ahLst/>
            <a:cxnLst/>
            <a:rect l="l" t="t" r="r" b="b"/>
            <a:pathLst>
              <a:path w="4335145" h="2166620">
                <a:moveTo>
                  <a:pt x="4334637" y="0"/>
                </a:moveTo>
                <a:lnTo>
                  <a:pt x="0" y="0"/>
                </a:lnTo>
                <a:lnTo>
                  <a:pt x="2167321" y="2166480"/>
                </a:lnTo>
                <a:lnTo>
                  <a:pt x="4334637" y="0"/>
                </a:lnTo>
                <a:close/>
              </a:path>
            </a:pathLst>
          </a:custGeom>
          <a:solidFill>
            <a:srgbClr val="484C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xfrm>
            <a:off x="4066068" y="4110216"/>
            <a:ext cx="10141585" cy="32476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02005">
              <a:lnSpc>
                <a:spcPct val="100000"/>
              </a:lnSpc>
              <a:spcBef>
                <a:spcPts val="125"/>
              </a:spcBef>
              <a:tabLst>
                <a:tab pos="8538210" algn="l"/>
              </a:tabLst>
            </a:pPr>
            <a:r>
              <a:rPr spc="95" dirty="0"/>
              <a:t>In</a:t>
            </a:r>
            <a:r>
              <a:rPr spc="-55" dirty="0"/>
              <a:t> </a:t>
            </a:r>
            <a:r>
              <a:rPr spc="65" dirty="0"/>
              <a:t>conclusion,</a:t>
            </a:r>
            <a:r>
              <a:rPr lang="ru-KZ" dirty="0"/>
              <a:t> </a:t>
            </a:r>
            <a:r>
              <a:rPr lang="en-US" dirty="0"/>
              <a:t>blockchain technology </a:t>
            </a:r>
            <a:r>
              <a:rPr spc="110" dirty="0"/>
              <a:t>and</a:t>
            </a:r>
            <a:r>
              <a:rPr lang="en-US" spc="110" dirty="0"/>
              <a:t> cryptocurrencies </a:t>
            </a:r>
            <a:r>
              <a:rPr spc="100" dirty="0"/>
              <a:t>are</a:t>
            </a:r>
            <a:r>
              <a:rPr spc="-45" dirty="0"/>
              <a:t> </a:t>
            </a:r>
            <a:r>
              <a:rPr spc="100" dirty="0"/>
              <a:t>reshaping</a:t>
            </a:r>
            <a:r>
              <a:rPr spc="-50" dirty="0"/>
              <a:t> </a:t>
            </a:r>
            <a:r>
              <a:rPr spc="160" dirty="0"/>
              <a:t>the</a:t>
            </a:r>
            <a:r>
              <a:rPr spc="-45" dirty="0"/>
              <a:t> </a:t>
            </a:r>
            <a:r>
              <a:rPr spc="85" dirty="0"/>
              <a:t>finance </a:t>
            </a:r>
            <a:r>
              <a:rPr spc="75" dirty="0"/>
              <a:t>sector,</a:t>
            </a:r>
            <a:r>
              <a:rPr spc="-40" dirty="0"/>
              <a:t> </a:t>
            </a:r>
            <a:r>
              <a:rPr spc="114" dirty="0"/>
              <a:t>driving</a:t>
            </a:r>
            <a:r>
              <a:rPr spc="-40" dirty="0"/>
              <a:t> </a:t>
            </a:r>
            <a:r>
              <a:rPr spc="120" dirty="0"/>
              <a:t>innovation,</a:t>
            </a:r>
            <a:r>
              <a:rPr spc="-40" dirty="0"/>
              <a:t> </a:t>
            </a:r>
            <a:r>
              <a:rPr spc="135" dirty="0"/>
              <a:t>and</a:t>
            </a:r>
            <a:r>
              <a:rPr spc="-40" dirty="0"/>
              <a:t> </a:t>
            </a:r>
            <a:r>
              <a:rPr spc="110" dirty="0"/>
              <a:t>altering</a:t>
            </a:r>
            <a:r>
              <a:rPr spc="-40" dirty="0"/>
              <a:t> </a:t>
            </a:r>
            <a:r>
              <a:rPr spc="130" dirty="0"/>
              <a:t>customer</a:t>
            </a:r>
            <a:r>
              <a:rPr lang="en-US" spc="130" dirty="0"/>
              <a:t> </a:t>
            </a:r>
            <a:r>
              <a:rPr spc="95" dirty="0"/>
              <a:t>expectations.</a:t>
            </a:r>
            <a:r>
              <a:rPr spc="10" dirty="0"/>
              <a:t> </a:t>
            </a:r>
            <a:r>
              <a:rPr spc="70" dirty="0"/>
              <a:t>Embracing</a:t>
            </a:r>
            <a:r>
              <a:rPr spc="5" dirty="0"/>
              <a:t> </a:t>
            </a:r>
            <a:r>
              <a:rPr spc="85" dirty="0"/>
              <a:t>these</a:t>
            </a:r>
            <a:r>
              <a:rPr spc="10" dirty="0"/>
              <a:t> </a:t>
            </a:r>
            <a:r>
              <a:rPr dirty="0"/>
              <a:t>changes</a:t>
            </a:r>
            <a:r>
              <a:rPr spc="10" dirty="0"/>
              <a:t> </a:t>
            </a:r>
            <a:r>
              <a:rPr spc="125" dirty="0"/>
              <a:t>will</a:t>
            </a:r>
            <a:r>
              <a:rPr spc="10" dirty="0"/>
              <a:t> </a:t>
            </a:r>
            <a:r>
              <a:rPr spc="90" dirty="0"/>
              <a:t>be</a:t>
            </a:r>
            <a:r>
              <a:rPr lang="en-US" spc="90" dirty="0"/>
              <a:t> </a:t>
            </a:r>
            <a:r>
              <a:rPr spc="65" dirty="0"/>
              <a:t>crucial</a:t>
            </a:r>
            <a:r>
              <a:rPr spc="-50" dirty="0"/>
              <a:t> </a:t>
            </a:r>
            <a:r>
              <a:rPr spc="215" dirty="0"/>
              <a:t>for</a:t>
            </a:r>
            <a:r>
              <a:rPr spc="-40" dirty="0"/>
              <a:t> </a:t>
            </a:r>
            <a:r>
              <a:rPr spc="70" dirty="0"/>
              <a:t>banks</a:t>
            </a:r>
            <a:r>
              <a:rPr spc="-45" dirty="0"/>
              <a:t> </a:t>
            </a:r>
            <a:r>
              <a:rPr spc="215" dirty="0"/>
              <a:t>to</a:t>
            </a:r>
            <a:r>
              <a:rPr spc="-40" dirty="0"/>
              <a:t> </a:t>
            </a:r>
            <a:r>
              <a:rPr spc="140" dirty="0"/>
              <a:t>thrive</a:t>
            </a:r>
            <a:r>
              <a:rPr spc="-45" dirty="0"/>
              <a:t> </a:t>
            </a:r>
            <a:r>
              <a:rPr spc="145" dirty="0"/>
              <a:t>in</a:t>
            </a:r>
            <a:r>
              <a:rPr spc="-45" dirty="0"/>
              <a:t> </a:t>
            </a:r>
            <a:r>
              <a:rPr spc="160" dirty="0"/>
              <a:t>the</a:t>
            </a:r>
            <a:r>
              <a:rPr spc="-40" dirty="0"/>
              <a:t> </a:t>
            </a:r>
            <a:r>
              <a:rPr spc="180" dirty="0"/>
              <a:t>future </a:t>
            </a:r>
            <a:r>
              <a:rPr spc="70" dirty="0"/>
              <a:t>landscape</a:t>
            </a:r>
            <a:r>
              <a:rPr spc="-45" dirty="0"/>
              <a:t> </a:t>
            </a:r>
            <a:r>
              <a:rPr spc="185" dirty="0"/>
              <a:t>of</a:t>
            </a:r>
            <a:r>
              <a:rPr spc="-50" dirty="0"/>
              <a:t> </a:t>
            </a:r>
            <a:r>
              <a:rPr spc="190" dirty="0"/>
              <a:t>modern</a:t>
            </a:r>
            <a:r>
              <a:rPr spc="-45" dirty="0"/>
              <a:t> </a:t>
            </a:r>
            <a:r>
              <a:rPr spc="70" dirty="0"/>
              <a:t>banking.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055873" y="1970392"/>
            <a:ext cx="7487920" cy="1387475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2614930" marR="5080" indent="-2602865">
              <a:lnSpc>
                <a:spcPts val="4880"/>
              </a:lnSpc>
              <a:spcBef>
                <a:spcPts val="1070"/>
              </a:spcBef>
            </a:pPr>
            <a:r>
              <a:rPr sz="4850" spc="240" dirty="0"/>
              <a:t>Conclusion:</a:t>
            </a:r>
            <a:r>
              <a:rPr sz="4850" spc="45" dirty="0"/>
              <a:t> </a:t>
            </a:r>
            <a:r>
              <a:rPr sz="4850" spc="210" dirty="0"/>
              <a:t>The</a:t>
            </a:r>
            <a:r>
              <a:rPr sz="4850" spc="185" dirty="0"/>
              <a:t> </a:t>
            </a:r>
            <a:r>
              <a:rPr sz="4850" spc="155" dirty="0"/>
              <a:t>Future</a:t>
            </a:r>
            <a:r>
              <a:rPr sz="4850" spc="185" dirty="0"/>
              <a:t> </a:t>
            </a:r>
            <a:r>
              <a:rPr sz="4850" spc="275" dirty="0"/>
              <a:t>of </a:t>
            </a:r>
            <a:r>
              <a:rPr sz="4850" spc="195" dirty="0"/>
              <a:t>Finance</a:t>
            </a:r>
            <a:endParaRPr sz="4850" dirty="0"/>
          </a:p>
        </p:txBody>
      </p:sp>
      <p:sp>
        <p:nvSpPr>
          <p:cNvPr id="15" name="object 15"/>
          <p:cNvSpPr/>
          <p:nvPr/>
        </p:nvSpPr>
        <p:spPr>
          <a:xfrm>
            <a:off x="7227099" y="3677386"/>
            <a:ext cx="3819525" cy="95250"/>
          </a:xfrm>
          <a:custGeom>
            <a:avLst/>
            <a:gdLst/>
            <a:ahLst/>
            <a:cxnLst/>
            <a:rect l="l" t="t" r="r" b="b"/>
            <a:pathLst>
              <a:path w="3819525" h="95250">
                <a:moveTo>
                  <a:pt x="3819525" y="0"/>
                </a:moveTo>
                <a:lnTo>
                  <a:pt x="0" y="0"/>
                </a:lnTo>
                <a:lnTo>
                  <a:pt x="0" y="95250"/>
                </a:lnTo>
                <a:lnTo>
                  <a:pt x="3819525" y="95250"/>
                </a:lnTo>
                <a:lnTo>
                  <a:pt x="3819525" y="0"/>
                </a:lnTo>
                <a:close/>
              </a:path>
            </a:pathLst>
          </a:custGeom>
          <a:solidFill>
            <a:srgbClr val="70B1D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4" grpId="0"/>
      <p:bldP spid="1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145</Words>
  <Application>Microsoft Office PowerPoint</Application>
  <PresentationFormat>Произвольный</PresentationFormat>
  <Paragraphs>32</Paragraphs>
  <Slides>6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 MT</vt:lpstr>
      <vt:lpstr>Calibri</vt:lpstr>
      <vt:lpstr>Cambria</vt:lpstr>
      <vt:lpstr>Lucida Sans Unicode</vt:lpstr>
      <vt:lpstr>Office Theme</vt:lpstr>
      <vt:lpstr>Презентация PowerPoint</vt:lpstr>
      <vt:lpstr>Presentation content:</vt:lpstr>
      <vt:lpstr>Understanding Blockchain Technology</vt:lpstr>
      <vt:lpstr>Popular cryptocurrencies</vt:lpstr>
      <vt:lpstr>Презентация PowerPoint</vt:lpstr>
      <vt:lpstr>Conclusion: The Future of Finance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Admin</cp:lastModifiedBy>
  <cp:revision>6</cp:revision>
  <dcterms:created xsi:type="dcterms:W3CDTF">2024-09-25T09:36:32Z</dcterms:created>
  <dcterms:modified xsi:type="dcterms:W3CDTF">2024-09-25T11:10:34Z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2024-09-25T00:00:00Z</vt:filetime>
  </property>
  <property fmtid="{D5CDD505-2E9C-101B-9397-08002B2CF9AE}" pid="3" name="Creator">
    <vt:lpwstr>Chromium</vt:lpwstr>
  </property>
  <property fmtid="{D5CDD505-2E9C-101B-9397-08002B2CF9AE}" pid="4" name="LastSaved">
    <vt:filetime>2024-09-25T00:00:00Z</vt:filetime>
  </property>
  <property fmtid="{D5CDD505-2E9C-101B-9397-08002B2CF9AE}" pid="5" name="Producer">
    <vt:lpwstr>GPL Ghostscript 10.02.0</vt:lpwstr>
  </property>
</Properties>
</file>